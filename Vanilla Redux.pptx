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8" r:id="rId3"/>
    <p:sldId id="259" r:id="rId4"/>
    <p:sldId id="260" r:id="rId5"/>
    <p:sldId id="261" r:id="rId6"/>
    <p:sldId id="267" r:id="rId7"/>
    <p:sldId id="262" r:id="rId8"/>
    <p:sldId id="268" r:id="rId9"/>
    <p:sldId id="269" r:id="rId10"/>
    <p:sldId id="270" r:id="rId11"/>
    <p:sldId id="266" r:id="rId12"/>
    <p:sldId id="272" r:id="rId13"/>
    <p:sldId id="271" r:id="rId14"/>
    <p:sldId id="274" r:id="rId15"/>
    <p:sldId id="264" r:id="rId16"/>
    <p:sldId id="265" r:id="rId17"/>
    <p:sldId id="273" r:id="rId18"/>
    <p:sldId id="275" r:id="rId19"/>
    <p:sldId id="277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34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1/1/2017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1/1/2017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1/1/2017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1/1/2017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1/1/2017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1/1/2017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1/1/2017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1/1/2017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1/1/2017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1/1/2017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1/1/2017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1/1/2017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Vanilla </a:t>
            </a:r>
            <a:r>
              <a:rPr lang="en-US" dirty="0" err="1"/>
              <a:t>Redux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State containers 101</a:t>
            </a:r>
          </a:p>
        </p:txBody>
      </p:sp>
    </p:spTree>
    <p:extLst>
      <p:ext uri="{BB962C8B-B14F-4D97-AF65-F5344CB8AC3E}">
        <p14:creationId xmlns:p14="http://schemas.microsoft.com/office/powerpoint/2010/main" val="406767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Glossary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Flux basics</a:t>
            </a:r>
          </a:p>
          <a:p>
            <a:pPr lvl="1"/>
            <a:r>
              <a:rPr lang="en-US" dirty="0"/>
              <a:t>What’s the problem?</a:t>
            </a:r>
          </a:p>
          <a:p>
            <a:pPr lvl="1"/>
            <a:r>
              <a:rPr lang="en-US" dirty="0"/>
              <a:t>What’s the solution?</a:t>
            </a:r>
          </a:p>
          <a:p>
            <a:r>
              <a:rPr lang="en-US" dirty="0" err="1"/>
              <a:t>Redux</a:t>
            </a:r>
            <a:r>
              <a:rPr lang="en-US" dirty="0"/>
              <a:t> basics:</a:t>
            </a:r>
          </a:p>
          <a:p>
            <a:pPr lvl="1"/>
            <a:r>
              <a:rPr lang="en-US" dirty="0"/>
              <a:t>Principals of </a:t>
            </a:r>
            <a:r>
              <a:rPr lang="en-US" dirty="0" err="1"/>
              <a:t>redux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state tree.</a:t>
            </a:r>
          </a:p>
          <a:p>
            <a:pPr lvl="1"/>
            <a:r>
              <a:rPr lang="en-US" dirty="0"/>
              <a:t>Invoking State changes (ACTIONS).</a:t>
            </a:r>
          </a:p>
          <a:p>
            <a:pPr lvl="1"/>
            <a:r>
              <a:rPr lang="en-US" dirty="0"/>
              <a:t>Handling state changes with reducers.</a:t>
            </a:r>
          </a:p>
          <a:p>
            <a:pPr lvl="1"/>
            <a:r>
              <a:rPr lang="en-US" dirty="0"/>
              <a:t>Making the UI reflect the new state.</a:t>
            </a:r>
          </a:p>
          <a:p>
            <a:pPr lvl="1"/>
            <a:r>
              <a:rPr lang="en-US" dirty="0"/>
              <a:t>Reducers composition.</a:t>
            </a:r>
          </a:p>
          <a:p>
            <a:pPr lvl="1"/>
            <a:r>
              <a:rPr lang="en-US" dirty="0"/>
              <a:t>Middleware</a:t>
            </a:r>
          </a:p>
          <a:p>
            <a:r>
              <a:rPr lang="en-US" dirty="0"/>
              <a:t>Advanced topics (wpb#2):  </a:t>
            </a:r>
          </a:p>
          <a:p>
            <a:pPr lvl="1"/>
            <a:r>
              <a:rPr lang="en-US" dirty="0"/>
              <a:t>Action creators</a:t>
            </a:r>
          </a:p>
          <a:p>
            <a:pPr lvl="1"/>
            <a:r>
              <a:rPr lang="en-US" dirty="0"/>
              <a:t>Smart and dumb components.</a:t>
            </a:r>
          </a:p>
          <a:p>
            <a:pPr lvl="1"/>
            <a:r>
              <a:rPr lang="en-US" dirty="0"/>
              <a:t> </a:t>
            </a:r>
            <a:r>
              <a:rPr lang="en-US" dirty="0" err="1"/>
              <a:t>Async</a:t>
            </a:r>
            <a:r>
              <a:rPr lang="en-US" dirty="0"/>
              <a:t> state mutations.</a:t>
            </a:r>
          </a:p>
          <a:p>
            <a:pPr lvl="1"/>
            <a:r>
              <a:rPr lang="en-US" dirty="0"/>
              <a:t>Immutability</a:t>
            </a:r>
          </a:p>
          <a:p>
            <a:pPr lvl="1"/>
            <a:r>
              <a:rPr lang="en-US" dirty="0"/>
              <a:t>Caching the state.</a:t>
            </a:r>
          </a:p>
          <a:p>
            <a:pPr lvl="1"/>
            <a:r>
              <a:rPr lang="en-US" dirty="0"/>
              <a:t>Time travel.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77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Flux Basics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035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the problem?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Handling </a:t>
            </a:r>
            <a:r>
              <a:rPr lang="en-US" b="1" dirty="0"/>
              <a:t>STATE</a:t>
            </a:r>
            <a:r>
              <a:rPr lang="en-US" dirty="0"/>
              <a:t> in </a:t>
            </a:r>
            <a:r>
              <a:rPr lang="en-US" b="1" dirty="0"/>
              <a:t>SPA’s</a:t>
            </a:r>
            <a:r>
              <a:rPr lang="en-US" dirty="0"/>
              <a:t> is complex.</a:t>
            </a:r>
          </a:p>
          <a:p>
            <a:r>
              <a:rPr lang="en-US" dirty="0"/>
              <a:t>Facebook: “MVC got really complicated really quickly” (05/2014).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“we wanted to show an unread count for message threads while another view showed a list of threads, with the unread ones highlighted. This was difficult to handle with MVC — marking a single thread as read would update the thread model, and then also need to update the unread count model”. </a:t>
            </a:r>
          </a:p>
          <a:p>
            <a:r>
              <a:rPr lang="en-US" dirty="0"/>
              <a:t>How do components interact with each other? </a:t>
            </a:r>
          </a:p>
          <a:p>
            <a:r>
              <a:rPr lang="en-US" dirty="0"/>
              <a:t>Do components need to know each other?</a:t>
            </a:r>
          </a:p>
        </p:txBody>
      </p:sp>
      <p:pic>
        <p:nvPicPr>
          <p:cNvPr id="7" name="Content Placeholder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7912" y="1692416"/>
            <a:ext cx="4134064" cy="234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240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the solution?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Uni</a:t>
            </a:r>
            <a:r>
              <a:rPr lang="en-US" b="1" dirty="0"/>
              <a:t>-Directional</a:t>
            </a:r>
            <a:r>
              <a:rPr lang="en-US" dirty="0"/>
              <a:t> data flow is better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 </a:t>
            </a:r>
            <a:r>
              <a:rPr lang="en-US" i="1" dirty="0"/>
              <a:t>Store </a:t>
            </a:r>
            <a:r>
              <a:rPr lang="en-US" dirty="0"/>
              <a:t>contains all the application’s data and the </a:t>
            </a:r>
            <a:r>
              <a:rPr lang="en-US" i="1" dirty="0"/>
              <a:t>Dispatcher(reducer)</a:t>
            </a:r>
            <a:r>
              <a:rPr lang="en-US" dirty="0"/>
              <a:t> replaces the initial </a:t>
            </a:r>
            <a:r>
              <a:rPr lang="en-US" i="1" dirty="0" err="1"/>
              <a:t>Controller,</a:t>
            </a:r>
            <a:r>
              <a:rPr lang="en-US" dirty="0" err="1"/>
              <a:t>deciding</a:t>
            </a:r>
            <a:r>
              <a:rPr lang="en-US" dirty="0"/>
              <a:t> how the </a:t>
            </a:r>
            <a:r>
              <a:rPr lang="en-US" i="1" dirty="0"/>
              <a:t>Store</a:t>
            </a:r>
            <a:r>
              <a:rPr lang="en-US" dirty="0"/>
              <a:t> is to be updated when an </a:t>
            </a:r>
            <a:r>
              <a:rPr lang="en-US" i="1" dirty="0"/>
              <a:t>Action</a:t>
            </a:r>
            <a:r>
              <a:rPr lang="en-US" dirty="0"/>
              <a:t> is triggered. The </a:t>
            </a:r>
            <a:r>
              <a:rPr lang="en-US" i="1" dirty="0"/>
              <a:t>View</a:t>
            </a:r>
            <a:r>
              <a:rPr lang="en-US" dirty="0"/>
              <a:t> is always updated when the </a:t>
            </a:r>
            <a:r>
              <a:rPr lang="en-US" i="1" dirty="0"/>
              <a:t>Store</a:t>
            </a:r>
            <a:r>
              <a:rPr lang="en-US" dirty="0"/>
              <a:t> changes</a:t>
            </a:r>
          </a:p>
          <a:p>
            <a:r>
              <a:rPr lang="en-US" dirty="0"/>
              <a:t>No “Model” for views.</a:t>
            </a:r>
          </a:p>
          <a:p>
            <a:r>
              <a:rPr lang="en-US" dirty="0"/>
              <a:t>Smart components (“controller-views”) vs. dumb.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7912" y="1526078"/>
            <a:ext cx="7324018" cy="1611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404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REDUX BASICS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622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Principals of </a:t>
            </a:r>
            <a:r>
              <a:rPr lang="en-US" dirty="0" err="1"/>
              <a:t>redux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Dan Abramov : “As the requirements for JavaScript single-page applications have become increasingly complicated, </a:t>
            </a:r>
            <a:r>
              <a:rPr lang="en-US" b="1" dirty="0"/>
              <a:t>our code must manage more state than ever before</a:t>
            </a:r>
            <a:r>
              <a:rPr lang="en-US" dirty="0"/>
              <a:t>”</a:t>
            </a:r>
          </a:p>
          <a:p>
            <a:r>
              <a:rPr lang="en-US" b="1" dirty="0"/>
              <a:t>Single source of truth</a:t>
            </a:r>
          </a:p>
          <a:p>
            <a:pPr lvl="1"/>
            <a:r>
              <a:rPr lang="en-US" dirty="0"/>
              <a:t>The state of your whole application is stored in a single nested object.</a:t>
            </a:r>
          </a:p>
          <a:p>
            <a:r>
              <a:rPr lang="en-US" b="1" dirty="0"/>
              <a:t>State is read-only</a:t>
            </a:r>
          </a:p>
          <a:p>
            <a:pPr lvl="1"/>
            <a:r>
              <a:rPr lang="en-US" dirty="0"/>
              <a:t>The only way to mutate the state is dispatching an action.</a:t>
            </a:r>
          </a:p>
          <a:p>
            <a:r>
              <a:rPr lang="en-US" b="1" dirty="0"/>
              <a:t>Changes are made with pure functions</a:t>
            </a:r>
          </a:p>
          <a:p>
            <a:pPr lvl="1"/>
            <a:r>
              <a:rPr lang="en-US" dirty="0"/>
              <a:t>To specify how the state tree is transformed by actions, you write reducer functions.</a:t>
            </a:r>
          </a:p>
          <a:p>
            <a:endParaRPr lang="en-US" b="1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190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UI STATE  TREE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should we design the state object? What should it contain?</a:t>
            </a:r>
          </a:p>
          <a:p>
            <a:pPr lvl="1"/>
            <a:r>
              <a:rPr lang="en-US" dirty="0"/>
              <a:t>The UI state should contain data that is relevant to the UI such as:</a:t>
            </a:r>
          </a:p>
          <a:p>
            <a:pPr lvl="2"/>
            <a:r>
              <a:rPr lang="en-US" dirty="0"/>
              <a:t>Data items fetched from the server</a:t>
            </a:r>
          </a:p>
          <a:p>
            <a:pPr lvl="2"/>
            <a:r>
              <a:rPr lang="en-US" dirty="0"/>
              <a:t>Form data</a:t>
            </a:r>
          </a:p>
          <a:p>
            <a:pPr lvl="2"/>
            <a:r>
              <a:rPr lang="en-US" dirty="0"/>
              <a:t>Pagination</a:t>
            </a:r>
          </a:p>
          <a:p>
            <a:pPr lvl="2"/>
            <a:r>
              <a:rPr lang="en-US" dirty="0"/>
              <a:t>Navigation</a:t>
            </a:r>
          </a:p>
          <a:p>
            <a:pPr lvl="2"/>
            <a:r>
              <a:rPr lang="en-US" dirty="0"/>
              <a:t>authentication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3867911" y="3845565"/>
            <a:ext cx="7246205" cy="221599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 state =</a:t>
            </a:r>
            <a:r>
              <a:rPr kumimoji="0" lang="en-US" altLang="en-US" b="0" i="0" u="none" strike="noStrike" cap="none" normalizeH="0" dirty="0">
                <a:ln>
                  <a:noFill/>
                </a:ln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{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	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articles: [{ id: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387CC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, text: '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lala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' }],     	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loggedInUser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: {},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	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articlesPage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: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		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selectedArticleID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: 2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	},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	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selectedTab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: ‘articles’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תמונה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36" y="4198283"/>
            <a:ext cx="2792150" cy="1510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3867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Invoking State changes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3872284" y="1757238"/>
            <a:ext cx="7310827" cy="4232082"/>
          </a:xfrm>
        </p:spPr>
        <p:txBody>
          <a:bodyPr/>
          <a:lstStyle/>
          <a:p>
            <a:r>
              <a:rPr lang="en-US" dirty="0"/>
              <a:t>The state is changed by dispatching an action.</a:t>
            </a:r>
          </a:p>
          <a:p>
            <a:r>
              <a:rPr lang="en-US" dirty="0"/>
              <a:t>The only mandatory field for an action is </a:t>
            </a:r>
            <a:r>
              <a:rPr lang="en-US" b="1" dirty="0"/>
              <a:t>type</a:t>
            </a:r>
            <a:r>
              <a:rPr lang="en-US" dirty="0"/>
              <a:t>, since it is used to determine the correct behavior following it.</a:t>
            </a:r>
          </a:p>
          <a:p>
            <a:r>
              <a:rPr lang="en-US" b="1" dirty="0"/>
              <a:t>Payload</a:t>
            </a:r>
            <a:r>
              <a:rPr lang="en-US" dirty="0"/>
              <a:t> can be added if needed.</a:t>
            </a:r>
            <a:endParaRPr lang="en-US" b="1" dirty="0"/>
          </a:p>
          <a:p>
            <a:r>
              <a:rPr lang="en-US" dirty="0" err="1"/>
              <a:t>Async</a:t>
            </a:r>
            <a:r>
              <a:rPr lang="en-US" dirty="0"/>
              <a:t> operations are done by dispatching an action when a promise is resolved.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Content Placeholder 4"/>
          <p:cNvSpPr txBox="1">
            <a:spLocks noChangeArrowheads="1"/>
          </p:cNvSpPr>
          <p:nvPr/>
        </p:nvSpPr>
        <p:spPr bwMode="auto">
          <a:xfrm>
            <a:off x="3867912" y="3582888"/>
            <a:ext cx="7315200" cy="184665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sp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import store from ‘./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myStore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’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endParaRPr lang="en-US" altLang="en-US" dirty="0">
              <a:solidFill>
                <a:srgbClr val="FFFFFF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store.dispatch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({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  type: ‘INCREMENT_COUNTER’,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  payload: 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some_data</a:t>
            </a:r>
            <a:endParaRPr lang="en-US" altLang="en-US" dirty="0">
              <a:solidFill>
                <a:srgbClr val="FFFFFF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3629022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State Changes with reducers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action was fired, how should the state change because of it?</a:t>
            </a:r>
          </a:p>
          <a:p>
            <a:r>
              <a:rPr lang="en-US" dirty="0"/>
              <a:t>Reducers are </a:t>
            </a:r>
            <a:r>
              <a:rPr lang="en-US" b="1" dirty="0"/>
              <a:t>pure functions</a:t>
            </a:r>
            <a:r>
              <a:rPr lang="en-US" dirty="0"/>
              <a:t> that encapsulate state changes based on actions and previous state.</a:t>
            </a:r>
          </a:p>
          <a:p>
            <a:r>
              <a:rPr lang="en-US" dirty="0"/>
              <a:t>A complex app will contain many reducers, each responsible for it’s own UI component.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Content Placeholder 4"/>
          <p:cNvSpPr txBox="1">
            <a:spLocks noChangeArrowheads="1"/>
          </p:cNvSpPr>
          <p:nvPr/>
        </p:nvSpPr>
        <p:spPr bwMode="auto">
          <a:xfrm>
            <a:off x="3867912" y="2482477"/>
            <a:ext cx="7315200" cy="360098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sp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function </a:t>
            </a:r>
            <a:r>
              <a:rPr lang="en-US" altLang="en-US" sz="1800" dirty="0" err="1">
                <a:solidFill>
                  <a:srgbClr val="FFFFFF"/>
                </a:solidFill>
                <a:latin typeface="Consolas" panose="020B0609020204030204" pitchFamily="49" charset="0"/>
              </a:rPr>
              <a:t>counterReducer</a:t>
            </a: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  state = { counter: 0, clicks: 0 },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  action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  switch(</a:t>
            </a:r>
            <a:r>
              <a:rPr lang="en-US" altLang="en-US" sz="1800" dirty="0" err="1">
                <a:solidFill>
                  <a:srgbClr val="FFFFFF"/>
                </a:solidFill>
                <a:latin typeface="Consolas" panose="020B0609020204030204" pitchFamily="49" charset="0"/>
              </a:rPr>
              <a:t>action.type</a:t>
            </a: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    case ‘INCREMENT’: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      return {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        counter: </a:t>
            </a:r>
            <a:r>
              <a:rPr lang="en-US" altLang="en-US" sz="1800" dirty="0" err="1">
                <a:solidFill>
                  <a:srgbClr val="FFFFFF"/>
                </a:solidFill>
                <a:latin typeface="Consolas" panose="020B0609020204030204" pitchFamily="49" charset="0"/>
              </a:rPr>
              <a:t>state.counter</a:t>
            </a: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 + 1,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        clicks: </a:t>
            </a:r>
            <a:r>
              <a:rPr lang="en-US" altLang="en-US" sz="1800" dirty="0" err="1">
                <a:solidFill>
                  <a:srgbClr val="FFFFFF"/>
                </a:solidFill>
                <a:latin typeface="Consolas" panose="020B0609020204030204" pitchFamily="49" charset="0"/>
              </a:rPr>
              <a:t>state.clicks</a:t>
            </a: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 + 1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      }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  }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  return state;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sz="1800" dirty="0">
                <a:solidFill>
                  <a:srgbClr val="FFFFFF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060075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Acting on State Changes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3867912" y="739471"/>
            <a:ext cx="7315200" cy="4589890"/>
          </a:xfrm>
        </p:spPr>
        <p:txBody>
          <a:bodyPr/>
          <a:lstStyle/>
          <a:p>
            <a:r>
              <a:rPr lang="en-US" dirty="0"/>
              <a:t>How will the UI handle state changes, once they take place?</a:t>
            </a:r>
          </a:p>
          <a:p>
            <a:r>
              <a:rPr lang="en-US" dirty="0" err="1"/>
              <a:t>store.subscribe</a:t>
            </a:r>
            <a:r>
              <a:rPr lang="en-US" dirty="0"/>
              <a:t>() will fire whenever the state changes.</a:t>
            </a:r>
          </a:p>
          <a:p>
            <a:r>
              <a:rPr lang="en-US" dirty="0"/>
              <a:t>Since it fires many times, heavy operations do not belong here, to avoid performance penalty.</a:t>
            </a:r>
          </a:p>
          <a:p>
            <a:r>
              <a:rPr lang="en-US" dirty="0"/>
              <a:t>Using Immutable </a:t>
            </a:r>
            <a:r>
              <a:rPr lang="en-US" dirty="0" err="1"/>
              <a:t>javascript</a:t>
            </a:r>
            <a:r>
              <a:rPr lang="en-US" dirty="0"/>
              <a:t> libraries can help!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Content Placeholder 4"/>
          <p:cNvSpPr txBox="1">
            <a:spLocks noChangeArrowheads="1"/>
          </p:cNvSpPr>
          <p:nvPr/>
        </p:nvSpPr>
        <p:spPr bwMode="auto">
          <a:xfrm>
            <a:off x="3867912" y="3034416"/>
            <a:ext cx="7315200" cy="307776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sp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import store from ‘./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myStore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’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Let 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oldCounter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 = {};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store.subscribe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(() =&gt; {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  // state has mutated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  let 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newState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Store.getState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();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  if(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newState.counter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 != 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oldCounter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oldCounter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newState.counter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counterComponent.display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FFFFFF"/>
                </a:solidFill>
                <a:latin typeface="Consolas" panose="020B0609020204030204" pitchFamily="49" charset="0"/>
              </a:rPr>
              <a:t>newState.counter</a:t>
            </a: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  }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r>
              <a:rPr lang="en-US" altLang="en-US" dirty="0">
                <a:solidFill>
                  <a:srgbClr val="FFFFFF"/>
                </a:solidFill>
                <a:latin typeface="Consolas" panose="020B0609020204030204" pitchFamily="49" charset="0"/>
              </a:rPr>
              <a:t>});</a:t>
            </a: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976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Middleware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1143000"/>
            <a:ext cx="6985618" cy="1695300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Redux</a:t>
            </a:r>
            <a:r>
              <a:rPr lang="en-US" dirty="0"/>
              <a:t> middleware provides </a:t>
            </a:r>
            <a:r>
              <a:rPr lang="en-US" b="1" dirty="0"/>
              <a:t>a third-party extension point between dispatching an action, and the moment it reaches the reducer. </a:t>
            </a:r>
            <a:r>
              <a:rPr lang="en-US" dirty="0"/>
              <a:t>The following syntax is used:</a:t>
            </a:r>
            <a:endParaRPr lang="en-US" b="1" dirty="0"/>
          </a:p>
          <a:p>
            <a:endParaRPr lang="en-US" b="1" dirty="0"/>
          </a:p>
          <a:p>
            <a:r>
              <a:rPr lang="en-US" dirty="0"/>
              <a:t>We register these </a:t>
            </a:r>
            <a:r>
              <a:rPr lang="en-US" dirty="0" err="1"/>
              <a:t>middlewares</a:t>
            </a:r>
            <a:r>
              <a:rPr lang="en-US" dirty="0"/>
              <a:t> on </a:t>
            </a:r>
            <a:r>
              <a:rPr lang="en-US" dirty="0" err="1"/>
              <a:t>init</a:t>
            </a:r>
            <a:r>
              <a:rPr lang="en-US" dirty="0"/>
              <a:t> using </a:t>
            </a:r>
            <a:r>
              <a:rPr lang="en-US" b="1" dirty="0" err="1"/>
              <a:t>applyMiddleware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b="1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3867912" y="2915824"/>
            <a:ext cx="5934115" cy="147732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logger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store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next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action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         	console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'dispatching'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action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	let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result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action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	console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'next state'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getState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	return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result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3867912" y="4696658"/>
            <a:ext cx="7651819" cy="129266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createStore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combineReducers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applyMiddleware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from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redux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todoApp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combineReducers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reducers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store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createStore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400" dirty="0">
                <a:solidFill>
                  <a:srgbClr val="333333"/>
                </a:solidFill>
                <a:latin typeface="Consolas" panose="020B0609020204030204" pitchFamily="49" charset="0"/>
              </a:rPr>
              <a:t>	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todoApp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rgbClr val="70809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	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applyMiddleware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logger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crashReporter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37611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ADVANCED TOPICS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422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 creators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Action creators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Action creators</a:t>
            </a:r>
            <a:r>
              <a:rPr lang="en-US" dirty="0"/>
              <a:t> should be used to encapsulate action creation:</a:t>
            </a:r>
          </a:p>
          <a:p>
            <a:r>
              <a:rPr lang="en-US" b="1" dirty="0"/>
              <a:t>Actions_counter.js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Component</a:t>
            </a:r>
          </a:p>
          <a:p>
            <a:endParaRPr lang="en-US" b="1" dirty="0"/>
          </a:p>
          <a:p>
            <a:endParaRPr lang="en-US" b="1" dirty="0"/>
          </a:p>
          <a:p>
            <a:endParaRPr lang="en-US" dirty="0"/>
          </a:p>
          <a:p>
            <a:r>
              <a:rPr lang="en-US" dirty="0"/>
              <a:t>Action creators can start </a:t>
            </a:r>
            <a:r>
              <a:rPr lang="en-US" dirty="0" err="1"/>
              <a:t>async</a:t>
            </a:r>
            <a:r>
              <a:rPr lang="en-US" dirty="0"/>
              <a:t> operations, and fire other actions.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3867912" y="1793110"/>
            <a:ext cx="7315200" cy="10772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INCREMENT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‘INCREMENT_COUNTER‘;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400" dirty="0">
              <a:solidFill>
                <a:srgbClr val="6699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increment_counter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  return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type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1400" dirty="0">
                <a:solidFill>
                  <a:srgbClr val="333333"/>
                </a:solidFill>
                <a:latin typeface="Consolas" panose="020B0609020204030204" pitchFamily="49" charset="0"/>
              </a:rPr>
              <a:t>INCREMENT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1"/>
          <p:cNvSpPr>
            <a:spLocks noChangeArrowheads="1"/>
          </p:cNvSpPr>
          <p:nvPr/>
        </p:nvSpPr>
        <p:spPr bwMode="auto">
          <a:xfrm>
            <a:off x="3867912" y="3601898"/>
            <a:ext cx="7315200" cy="86177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Import {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increment_counter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 } from ‘./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Actions_counter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’;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400" dirty="0">
                <a:solidFill>
                  <a:srgbClr val="0077AA"/>
                </a:solidFill>
                <a:latin typeface="Consolas" panose="020B0609020204030204" pitchFamily="49" charset="0"/>
              </a:rPr>
              <a:t>Import store from ‘./</a:t>
            </a:r>
            <a:r>
              <a:rPr lang="en-US" altLang="en-US" sz="1400" dirty="0" err="1">
                <a:solidFill>
                  <a:srgbClr val="0077AA"/>
                </a:solidFill>
                <a:latin typeface="Consolas" panose="020B0609020204030204" pitchFamily="49" charset="0"/>
              </a:rPr>
              <a:t>myStore</a:t>
            </a:r>
            <a:r>
              <a:rPr lang="en-US" altLang="en-US" sz="1400" dirty="0">
                <a:solidFill>
                  <a:srgbClr val="0077AA"/>
                </a:solidFill>
                <a:latin typeface="Consolas" panose="020B0609020204030204" pitchFamily="49" charset="0"/>
              </a:rPr>
              <a:t>’;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rgbClr val="66990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Store.dispatch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increment_counter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);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6859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 &amp; dumb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App components can be divided into two categories:</a:t>
            </a:r>
          </a:p>
          <a:p>
            <a:r>
              <a:rPr lang="en-US" b="1" dirty="0"/>
              <a:t>Smart components </a:t>
            </a:r>
            <a:r>
              <a:rPr lang="en-US" dirty="0"/>
              <a:t>are less reusable outside the application because they are aware of application-level state – We should have few of these.</a:t>
            </a:r>
          </a:p>
          <a:p>
            <a:r>
              <a:rPr lang="en-US" b="1" dirty="0"/>
              <a:t>Dumb components </a:t>
            </a:r>
            <a:r>
              <a:rPr lang="en-US" dirty="0"/>
              <a:t>are the most reusable components, because they know nothing about the application in which they are used.</a:t>
            </a:r>
            <a:br>
              <a:rPr lang="en-US" dirty="0"/>
            </a:br>
            <a:r>
              <a:rPr lang="en-US" dirty="0"/>
              <a:t>They can invoke callbacks passed to them by their container </a:t>
            </a:r>
            <a:br>
              <a:rPr lang="en-US" dirty="0"/>
            </a:br>
            <a:r>
              <a:rPr lang="en-US" dirty="0"/>
              <a:t> Example: </a:t>
            </a:r>
            <a:r>
              <a:rPr lang="en-US" b="1" dirty="0"/>
              <a:t>Spinner icon</a:t>
            </a:r>
          </a:p>
          <a:p>
            <a:r>
              <a:rPr lang="en-US" dirty="0"/>
              <a:t>The distinction between </a:t>
            </a:r>
            <a:r>
              <a:rPr lang="en-US" b="1" dirty="0"/>
              <a:t>smart</a:t>
            </a:r>
            <a:r>
              <a:rPr lang="en-US" dirty="0"/>
              <a:t> and </a:t>
            </a:r>
            <a:r>
              <a:rPr lang="en-US" b="1" dirty="0"/>
              <a:t>dumb</a:t>
            </a:r>
            <a:r>
              <a:rPr lang="en-US" dirty="0"/>
              <a:t> components is whether they </a:t>
            </a:r>
            <a:r>
              <a:rPr lang="en-US" i="1" dirty="0"/>
              <a:t>need</a:t>
            </a:r>
            <a:r>
              <a:rPr lang="en-US" dirty="0"/>
              <a:t> to access external state.</a:t>
            </a:r>
            <a:br>
              <a:rPr lang="en-US" dirty="0"/>
            </a:br>
            <a:r>
              <a:rPr lang="en-US" dirty="0"/>
              <a:t>Example: </a:t>
            </a:r>
            <a:r>
              <a:rPr lang="en-US" b="1" dirty="0"/>
              <a:t>Page</a:t>
            </a:r>
          </a:p>
        </p:txBody>
      </p:sp>
    </p:spTree>
    <p:extLst>
      <p:ext uri="{BB962C8B-B14F-4D97-AF65-F5344CB8AC3E}">
        <p14:creationId xmlns:p14="http://schemas.microsoft.com/office/powerpoint/2010/main" val="305217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 &amp; dumb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SMART COMPONENT</a:t>
            </a:r>
          </a:p>
          <a:p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DUMB COMPONENT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4256116" y="3200400"/>
            <a:ext cx="1461516" cy="24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717632" y="2651760"/>
            <a:ext cx="1938390" cy="1097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UI LOGIC – what components should be displayed, what data to send</a:t>
            </a:r>
          </a:p>
        </p:txBody>
      </p:sp>
      <p:cxnSp>
        <p:nvCxnSpPr>
          <p:cNvPr id="9" name="Straight Arrow Connector 8"/>
          <p:cNvCxnSpPr>
            <a:stCxn id="7" idx="3"/>
          </p:cNvCxnSpPr>
          <p:nvPr/>
        </p:nvCxnSpPr>
        <p:spPr>
          <a:xfrm flipV="1">
            <a:off x="7656022" y="2535382"/>
            <a:ext cx="1039091" cy="6650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7" idx="3"/>
          </p:cNvCxnSpPr>
          <p:nvPr/>
        </p:nvCxnSpPr>
        <p:spPr>
          <a:xfrm>
            <a:off x="7656022" y="3200400"/>
            <a:ext cx="1122218" cy="24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7" idx="3"/>
          </p:cNvCxnSpPr>
          <p:nvPr/>
        </p:nvCxnSpPr>
        <p:spPr>
          <a:xfrm>
            <a:off x="7656022" y="3200400"/>
            <a:ext cx="1039091" cy="731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03425" y="2236124"/>
            <a:ext cx="1197033" cy="5569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Dumb component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83642" y="2921924"/>
            <a:ext cx="1197033" cy="5569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Dumb Component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78487" y="3611880"/>
            <a:ext cx="1197033" cy="5569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Dumb Component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5344" y="2921924"/>
            <a:ext cx="815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STATE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 flipH="1">
            <a:off x="4167588" y="3478876"/>
            <a:ext cx="1550044" cy="415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79312" y="3537065"/>
            <a:ext cx="1104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3058" y="2331720"/>
            <a:ext cx="922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Relevant data</a:t>
            </a:r>
          </a:p>
        </p:txBody>
      </p:sp>
      <p:cxnSp>
        <p:nvCxnSpPr>
          <p:cNvPr id="25" name="Elbow Connector 24"/>
          <p:cNvCxnSpPr>
            <a:endCxn id="7" idx="0"/>
          </p:cNvCxnSpPr>
          <p:nvPr/>
        </p:nvCxnSpPr>
        <p:spPr>
          <a:xfrm rot="10800000" flipV="1">
            <a:off x="6686827" y="2286000"/>
            <a:ext cx="2008286" cy="36576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45531" y="1957236"/>
            <a:ext cx="17876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Something happened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0194" y="2982037"/>
            <a:ext cx="922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Relevant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91626" y="3659523"/>
            <a:ext cx="922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Relevant data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88310" y="4803371"/>
            <a:ext cx="1197033" cy="5569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Dumb Component</a:t>
            </a:r>
          </a:p>
        </p:txBody>
      </p:sp>
      <p:cxnSp>
        <p:nvCxnSpPr>
          <p:cNvPr id="39" name="Straight Arrow Connector 38"/>
          <p:cNvCxnSpPr/>
          <p:nvPr/>
        </p:nvCxnSpPr>
        <p:spPr>
          <a:xfrm flipV="1">
            <a:off x="4671753" y="4896196"/>
            <a:ext cx="1396538" cy="24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 flipH="1">
            <a:off x="4613116" y="5245331"/>
            <a:ext cx="1475194" cy="83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757879" y="4630190"/>
            <a:ext cx="12061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Relevant data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65866" y="5284422"/>
            <a:ext cx="19030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Something</a:t>
            </a:r>
            <a:r>
              <a:rPr lang="en-US" sz="1600" dirty="0"/>
              <a:t> happened</a:t>
            </a:r>
          </a:p>
        </p:txBody>
      </p:sp>
    </p:spTree>
    <p:extLst>
      <p:ext uri="{BB962C8B-B14F-4D97-AF65-F5344CB8AC3E}">
        <p14:creationId xmlns:p14="http://schemas.microsoft.com/office/powerpoint/2010/main" val="3610569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</a:t>
            </a:r>
            <a:r>
              <a:rPr lang="en-US" dirty="0"/>
              <a:t> state mutations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action fired : </a:t>
            </a:r>
            <a:r>
              <a:rPr lang="en-US" b="1" dirty="0"/>
              <a:t>start </a:t>
            </a:r>
            <a:r>
              <a:rPr lang="en-US" b="1" dirty="0" err="1"/>
              <a:t>async</a:t>
            </a:r>
            <a:r>
              <a:rPr lang="en-US" b="1" dirty="0"/>
              <a:t> </a:t>
            </a:r>
            <a:r>
              <a:rPr lang="en-US" dirty="0"/>
              <a:t>operation, components can act on this and show loading spinner;</a:t>
            </a:r>
          </a:p>
          <a:p>
            <a:r>
              <a:rPr lang="en-US" dirty="0"/>
              <a:t>When </a:t>
            </a:r>
            <a:r>
              <a:rPr lang="en-US" dirty="0" err="1"/>
              <a:t>async</a:t>
            </a:r>
            <a:r>
              <a:rPr lang="en-US" dirty="0"/>
              <a:t> operation finishes: second action fires: </a:t>
            </a:r>
            <a:r>
              <a:rPr lang="en-US" b="1" dirty="0" err="1"/>
              <a:t>async</a:t>
            </a:r>
            <a:r>
              <a:rPr lang="en-US" b="1" dirty="0"/>
              <a:t> operation finished</a:t>
            </a:r>
            <a:r>
              <a:rPr lang="en-US" dirty="0"/>
              <a:t> , and reducers can act on the result;</a:t>
            </a:r>
          </a:p>
          <a:p>
            <a:r>
              <a:rPr lang="en-US" dirty="0"/>
              <a:t>We can use middleware, or </a:t>
            </a:r>
            <a:r>
              <a:rPr lang="en-US" dirty="0" err="1"/>
              <a:t>async</a:t>
            </a:r>
            <a:r>
              <a:rPr lang="en-US" dirty="0"/>
              <a:t> action creators (with </a:t>
            </a:r>
            <a:r>
              <a:rPr lang="en-US" dirty="0" err="1"/>
              <a:t>thunk</a:t>
            </a:r>
            <a:r>
              <a:rPr lang="en-US" dirty="0"/>
              <a:t>).</a:t>
            </a:r>
          </a:p>
          <a:p>
            <a:r>
              <a:rPr lang="en-US" dirty="0"/>
              <a:t>See WPB example #2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7787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the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of the benefits of Single-source-of-truth approach, is we can be sure that loading the state from cache will provide the expected UI</a:t>
            </a:r>
          </a:p>
          <a:p>
            <a:r>
              <a:rPr lang="en-US" dirty="0"/>
              <a:t>See WPB #2 example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61792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Immutability</a:t>
            </a:r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libraries such as “seamless-immutable” can guarantee the state’s deterministic nature, </a:t>
            </a:r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614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travel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Another benefit is the ability to have “Time-travel” or “undo” functionality when we store the state upon change, and can revert to the previous state at any time.</a:t>
            </a:r>
          </a:p>
          <a:p>
            <a:r>
              <a:rPr lang="en-US" dirty="0"/>
              <a:t>See WPB #2 example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9374400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1511</TotalTime>
  <Words>886</Words>
  <Application>Microsoft Office PowerPoint</Application>
  <PresentationFormat>מסך רחב</PresentationFormat>
  <Paragraphs>223</Paragraphs>
  <Slides>20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20</vt:i4>
      </vt:variant>
    </vt:vector>
  </HeadingPairs>
  <TitlesOfParts>
    <vt:vector size="25" baseType="lpstr">
      <vt:lpstr>Arial</vt:lpstr>
      <vt:lpstr>Consolas</vt:lpstr>
      <vt:lpstr>Corbel</vt:lpstr>
      <vt:lpstr>Wingdings 2</vt:lpstr>
      <vt:lpstr>Frame</vt:lpstr>
      <vt:lpstr>Vanilla Redux</vt:lpstr>
      <vt:lpstr>Glossary</vt:lpstr>
      <vt:lpstr>Flux Basics</vt:lpstr>
      <vt:lpstr>What’s the problem?</vt:lpstr>
      <vt:lpstr>What’s the solution?</vt:lpstr>
      <vt:lpstr>REDUX BASICS</vt:lpstr>
      <vt:lpstr>Principals of redux</vt:lpstr>
      <vt:lpstr>The UI STATE  TREE</vt:lpstr>
      <vt:lpstr>Invoking State changes</vt:lpstr>
      <vt:lpstr>Handling State Changes with reducers</vt:lpstr>
      <vt:lpstr>Acting on State Changes</vt:lpstr>
      <vt:lpstr>Middleware</vt:lpstr>
      <vt:lpstr>ADVANCED TOPICS</vt:lpstr>
      <vt:lpstr>Action creators</vt:lpstr>
      <vt:lpstr>Smart &amp; dumb components</vt:lpstr>
      <vt:lpstr>Smart &amp; dumb components</vt:lpstr>
      <vt:lpstr>Async state mutations</vt:lpstr>
      <vt:lpstr>Caching the state</vt:lpstr>
      <vt:lpstr>Immutability</vt:lpstr>
      <vt:lpstr>Time travel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Vanilla Redux</dc:title>
  <dc:creator>Matan Werbner</dc:creator>
  <cp:lastModifiedBy>Matan Werbner</cp:lastModifiedBy>
  <cp:revision>50</cp:revision>
  <dcterms:created xsi:type="dcterms:W3CDTF">2016-07-31T06:14:08Z</dcterms:created>
  <dcterms:modified xsi:type="dcterms:W3CDTF">2017-01-01T15:01:24Z</dcterms:modified>
</cp:coreProperties>
</file>